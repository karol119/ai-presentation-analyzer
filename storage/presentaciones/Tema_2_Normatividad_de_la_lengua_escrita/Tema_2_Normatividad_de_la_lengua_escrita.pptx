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sldIdLst>
    <p:sldId id="256" r:id="rId5"/>
    <p:sldId id="267" r:id="rId6"/>
    <p:sldId id="257" r:id="rId7"/>
    <p:sldId id="258" r:id="rId8"/>
    <p:sldId id="259" r:id="rId9"/>
    <p:sldId id="260" r:id="rId10"/>
    <p:sldId id="262" r:id="rId11"/>
    <p:sldId id="264" r:id="rId12"/>
    <p:sldId id="265" r:id="rId13"/>
    <p:sldId id="266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46" y="41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083B7-9432-406D-A6AE-F4E155C58A1E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ED2AD-3AB8-4D01-9951-9C2B86569F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046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4ED2AD-3AB8-4D01-9951-9C2B86569FC5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5798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854920-D50F-4568-98A2-DCF7716D8F7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7D9D-CB7A-434A-BED4-B02346FFA3A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2E670-9F92-4E24-B028-FA31A657F7D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1033-DD89-4E8E-A186-7AAB9ED70D7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43B1-4683-4053-87E5-AD67D14FC4F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1105-7FD8-45E6-A3D3-CBADBA24369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8401-F9E2-463D-AD4F-AC5CACDB0C9E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7E641D8-FC54-4E67-B2C7-C3DA0B90320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D53F-5A54-4731-BCB0-9A40C1EB1F9D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385B-3C26-4414-866F-5906775DD26B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46CFE4-26A4-4103-9C9A-82F099EADC3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BE63F42-A36C-477F-9903-FC2D21E0D74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s-MX"/>
              <a:t>Comunicación oral y escrita - Unidad 2 Comunicación escrita - SMPV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aeh.edu.mx/scige/boletin/prepa3/n1/m8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1"/>
            <a:r>
              <a:rPr lang="es-ES" sz="4000" dirty="0"/>
              <a:t>Naturaleza social de la comunicación: la lengua</a:t>
            </a:r>
            <a:br>
              <a:rPr lang="es-MX" sz="4000" dirty="0">
                <a:latin typeface="+mj-lt"/>
              </a:rPr>
            </a:br>
            <a:endParaRPr lang="es-MX" sz="4000" dirty="0">
              <a:latin typeface="+mj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Vicios del lenguaje</a:t>
            </a:r>
            <a:endParaRPr lang="es-MX" sz="320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 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0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10" name="Imagen 9" descr="Un dibujo de un personaje animado&#10;&#10;El contenido generado por IA puede ser incorrecto.">
            <a:extLst>
              <a:ext uri="{FF2B5EF4-FFF2-40B4-BE49-F238E27FC236}">
                <a16:creationId xmlns:a16="http://schemas.microsoft.com/office/drawing/2014/main" id="{2AA2173E-9796-78CA-FCCE-EBB25249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59" r="13821" b="1"/>
          <a:stretch>
            <a:fillRect/>
          </a:stretch>
        </p:blipFill>
        <p:spPr>
          <a:xfrm>
            <a:off x="1" y="10"/>
            <a:ext cx="4637078" cy="6857530"/>
          </a:xfrm>
          <a:prstGeom prst="rect">
            <a:avLst/>
          </a:prstGeom>
        </p:spPr>
      </p:pic>
      <p:pic>
        <p:nvPicPr>
          <p:cNvPr id="8" name="Marcador de contenido 7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F7CE55ED-DDA4-4E14-6213-D1C6B996F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741" b="1"/>
          <a:stretch>
            <a:fillRect/>
          </a:stretch>
        </p:blipFill>
        <p:spPr>
          <a:xfrm>
            <a:off x="4655814" y="596313"/>
            <a:ext cx="7563171" cy="426694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D2D677F-100E-4894-8088-FEF4C2576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498" y="4267831"/>
            <a:ext cx="7552502" cy="2590169"/>
          </a:xfrm>
          <a:prstGeom prst="rect">
            <a:avLst/>
          </a:prstGeom>
          <a:solidFill>
            <a:schemeClr val="accent1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BC4214-6E23-74EA-0521-7404C637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842" y="4571122"/>
            <a:ext cx="6591957" cy="1037907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893BA2-BE7F-4E83-B8FC-9F91F2C7A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498" y="4220158"/>
            <a:ext cx="7554921" cy="914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BB5A80-F542-486D-B054-EFE4B916A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1359" y="-460"/>
            <a:ext cx="9144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EFD3EC-2C81-A4EF-911E-17D648CE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70175" y="6024562"/>
            <a:ext cx="27318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94A7D9D-CB7A-434A-BED4-B02346FFA3A9}" type="datetime1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2/24/2026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CBCBF5-75DA-F53E-3DCD-F0336B03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6834" y="6025439"/>
            <a:ext cx="34320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kern="1200" cap="all">
                <a:solidFill>
                  <a:schemeClr val="accent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Comunicación oral y escrita - Unidad 2 Comunicación escrita - SMPV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2ED98F-506E-6C24-123E-815D31EB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490" y="6024562"/>
            <a:ext cx="54267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80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VICIOS DEL LENGUAJE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5695" y="1952786"/>
            <a:ext cx="6036584" cy="3921511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"/>
            </a:pPr>
            <a:r>
              <a:rPr lang="es-MX" sz="3200" dirty="0"/>
              <a:t>Son formas de construcción o empleo de vocabulario inadecuados, que pueden dificultar la interpretación correcta de un escrito.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sz="3200" dirty="0"/>
              <a:t>Son formas o usos incorrectos del </a:t>
            </a:r>
            <a:r>
              <a:rPr lang="es-MX" sz="3200" b="1" i="1" u="sng" dirty="0">
                <a:solidFill>
                  <a:srgbClr val="FF0000"/>
                </a:solidFill>
              </a:rPr>
              <a:t>habla</a:t>
            </a:r>
            <a:r>
              <a:rPr lang="es-MX" sz="3200" dirty="0"/>
              <a:t> o de la </a:t>
            </a:r>
            <a:r>
              <a:rPr lang="es-MX" sz="3200" b="1" i="1" u="sng" dirty="0">
                <a:solidFill>
                  <a:srgbClr val="FF0000"/>
                </a:solidFill>
              </a:rPr>
              <a:t>escritura</a:t>
            </a:r>
            <a:r>
              <a:rPr lang="es-MX" sz="3200" dirty="0"/>
              <a:t>. Estas faltas en los códigos lingüísticos complican la transmisión de ideas.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sz="3200" dirty="0"/>
              <a:t>Ocurren en todos los idiomas y, en muchas ocasiones, terminan incorporándose al lenguaje.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 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978" y="1808968"/>
            <a:ext cx="513412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1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MX" dirty="0"/>
              <a:t>Algunos vicios del lenguaje…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/>
              <a:t>Barbarismo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/>
              <a:t>Solecismo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/>
              <a:t>Anfibología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/>
              <a:t>Cacofonía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 err="1"/>
              <a:t>Queismo</a:t>
            </a:r>
            <a:r>
              <a:rPr lang="es-MX" sz="3000" dirty="0"/>
              <a:t> y </a:t>
            </a:r>
            <a:r>
              <a:rPr lang="es-MX" sz="3000" dirty="0" err="1"/>
              <a:t>antiquismo</a:t>
            </a:r>
            <a:endParaRPr lang="es-MX" sz="3000" dirty="0"/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 err="1"/>
              <a:t>Gerundismo</a:t>
            </a:r>
            <a:endParaRPr lang="es-MX" sz="3000" dirty="0"/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endParaRPr lang="es-MX" sz="3000" dirty="0"/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/>
              <a:t>Pobreza de vocabulario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/>
              <a:t>Pleonasmos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 err="1"/>
              <a:t>Cosismo</a:t>
            </a:r>
            <a:endParaRPr lang="es-MX" sz="3000" dirty="0"/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000" dirty="0"/>
              <a:t>Muletillas 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MX" sz="3000" cap="small" dirty="0"/>
          </a:p>
          <a:p>
            <a:pPr algn="ctr"/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33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barbarismo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"/>
            </a:pPr>
            <a:r>
              <a:rPr lang="es-MX" sz="2600" dirty="0"/>
              <a:t>1.  Pronunciación (haiga)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"/>
            </a:pPr>
            <a:r>
              <a:rPr lang="es-MX" sz="2600" dirty="0"/>
              <a:t>2.  Vocablos extranjeros (show=presentación)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"/>
            </a:pPr>
            <a:r>
              <a:rPr lang="es-MX" sz="2600" dirty="0"/>
              <a:t>Significado incorrecto de las palabras (sendos=uno para cada cual)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"/>
            </a:pPr>
            <a:endParaRPr lang="es-MX" sz="2600" dirty="0"/>
          </a:p>
          <a:p>
            <a:pPr algn="ctr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"/>
            </a:pPr>
            <a:endParaRPr lang="es-MX" sz="2600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599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solecismo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Deficiencia en la construcción gramatical</a:t>
            </a:r>
          </a:p>
          <a:p>
            <a:pPr marL="342900" indent="-342900">
              <a:buAutoNum type="arabicPeriod"/>
            </a:pPr>
            <a:r>
              <a:rPr lang="es-MX" sz="3200" dirty="0"/>
              <a:t>Colocar mal las palabras (voy donde el trabajo)</a:t>
            </a:r>
          </a:p>
          <a:p>
            <a:pPr marL="342900" indent="-342900">
              <a:buAutoNum type="arabicPeriod"/>
            </a:pPr>
            <a:r>
              <a:rPr lang="es-MX" sz="3200" dirty="0"/>
              <a:t>Fallas en la concordancia, es decir, la relación gramatical con los elementos de una oración gramatical (sustantivo con artículo y adjetivo, verbo y sus accidentes, sustantivos colectivos) 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92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Cacofonia</a:t>
            </a:r>
            <a:r>
              <a:rPr lang="es-MX" dirty="0"/>
              <a:t> y queísmo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3600" dirty="0"/>
              <a:t>La cacofonía se presenta al juntar las letras o sílabas de sonidos similares (la laguna, banco con, de desarrollo).</a:t>
            </a:r>
          </a:p>
          <a:p>
            <a:pPr marL="0" indent="0">
              <a:buNone/>
            </a:pPr>
            <a:r>
              <a:rPr lang="es-MX" sz="3600" dirty="0"/>
              <a:t>El queísmo se presenta cuando se abusa del que, principalmente cuando se trata de una narración, también se puede caer en el error de omitirlos.</a:t>
            </a:r>
          </a:p>
          <a:p>
            <a:pPr marL="0" indent="0">
              <a:buNone/>
            </a:pPr>
            <a:endParaRPr lang="es-MX" sz="360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290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2800" dirty="0"/>
              <a:t>Anfibología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/>
              <a:t>Son aquellas construcciones que admiten más de un significado.</a:t>
            </a:r>
            <a:br>
              <a:rPr lang="es-MX" sz="2800" dirty="0"/>
            </a:br>
            <a:r>
              <a:rPr lang="es-MX" sz="2800" dirty="0"/>
              <a:t>Las más frecuentes se deben al empleo poco preciso del relativo que; así como el uso de le, les, se, su, sus; empleo inadecuado de las preposiciones, etc.</a:t>
            </a:r>
            <a:br>
              <a:rPr lang="es-MX" sz="2800" dirty="0"/>
            </a:br>
            <a:r>
              <a:rPr lang="es-MX" sz="2800" dirty="0"/>
              <a:t>Se considera como un vicio de sintaxis, ésta resulta del orden inadecuado de los elementos en la oración, lo cual confunde, pues el sujeto no se corresponde debidamente con el predicado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MX" sz="280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 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741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200" dirty="0"/>
              <a:t>Pobreza de vocabulario uso repetido y constante de unas cuantas palabras y se abusa de expresiones o palabras de moda.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200" dirty="0" err="1"/>
              <a:t>Cosismo</a:t>
            </a:r>
            <a:r>
              <a:rPr lang="es-MX" sz="3200" dirty="0"/>
              <a:t> se abusa de la palabra “cosa”.</a:t>
            </a:r>
            <a:endParaRPr lang="es-MX" sz="3200" cap="small" dirty="0"/>
          </a:p>
          <a:p>
            <a:pPr marL="0" indent="0">
              <a:buNone/>
            </a:pPr>
            <a:endParaRPr lang="es-MX" sz="320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 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879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200" dirty="0" err="1"/>
              <a:t>Gerundismo</a:t>
            </a:r>
            <a:r>
              <a:rPr lang="es-MX" sz="3200" dirty="0"/>
              <a:t> (ando, </a:t>
            </a:r>
            <a:r>
              <a:rPr lang="es-MX" sz="3200" dirty="0" err="1"/>
              <a:t>endo</a:t>
            </a:r>
            <a:r>
              <a:rPr lang="es-MX" sz="3200" dirty="0"/>
              <a:t>, </a:t>
            </a:r>
            <a:r>
              <a:rPr lang="es-MX" sz="3200" dirty="0" err="1"/>
              <a:t>iendo</a:t>
            </a:r>
            <a:r>
              <a:rPr lang="es-MX" sz="3200" dirty="0"/>
              <a:t>).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es-MX" sz="3200" dirty="0"/>
              <a:t>Pleonasmos es la repetición innecesaria de palabras con la intención de reforzar un significado que se sobreentiende.</a:t>
            </a:r>
          </a:p>
          <a:p>
            <a:pPr marL="0" indent="0">
              <a:buNone/>
            </a:pPr>
            <a:endParaRPr lang="es-MX" sz="320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 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69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1611313" algn="l"/>
              </a:tabLst>
            </a:pPr>
            <a:r>
              <a:rPr lang="es-MX" dirty="0"/>
              <a:t>[1] Ordoñez G., E. (s.d./01/2014). Con Ciencias, </a:t>
            </a:r>
            <a:r>
              <a:rPr lang="es-MX" dirty="0" err="1"/>
              <a:t>Boletin</a:t>
            </a:r>
            <a:r>
              <a:rPr lang="es-MX" dirty="0"/>
              <a:t> Científico de la Escuela Preparatoria No. 3. </a:t>
            </a:r>
            <a:r>
              <a:rPr lang="es-MX" i="1" dirty="0"/>
              <a:t>Uso correcto de los elementos de la Oración. Vicios del Lenguaje. </a:t>
            </a:r>
            <a:r>
              <a:rPr lang="es-MX" dirty="0"/>
              <a:t>Universidad Autónoma del Estado de Hidalgo.  Disponible en: </a:t>
            </a:r>
            <a:r>
              <a:rPr lang="es-MX" dirty="0">
                <a:hlinkClick r:id="rId2"/>
              </a:rPr>
              <a:t>https://www.uaeh.edu.mx/scige/boletin/prepa3/n1/m8.html</a:t>
            </a:r>
            <a:endParaRPr lang="es-MX" dirty="0"/>
          </a:p>
          <a:p>
            <a:pPr marL="0" indent="0">
              <a:buNone/>
              <a:tabLst>
                <a:tab pos="1611313" algn="l"/>
              </a:tabLst>
            </a:pPr>
            <a:r>
              <a:rPr lang="es-MX" dirty="0"/>
              <a:t>[2] G. Baena. </a:t>
            </a:r>
            <a:r>
              <a:rPr lang="es-MX" i="1" dirty="0"/>
              <a:t>Redacción eficaz</a:t>
            </a:r>
            <a:r>
              <a:rPr lang="es-MX" dirty="0"/>
              <a:t>. Editores mexicanos unidos. Ciudad de México. 2012</a:t>
            </a:r>
          </a:p>
          <a:p>
            <a:pPr marL="0" indent="0">
              <a:buNone/>
              <a:tabLst>
                <a:tab pos="1611313" algn="l"/>
              </a:tabLst>
            </a:pPr>
            <a:r>
              <a:rPr lang="es-MX" dirty="0"/>
              <a:t>[3] L. Lima, L. </a:t>
            </a:r>
            <a:r>
              <a:rPr lang="es-MX" i="1" dirty="0"/>
              <a:t>Ortografía excelente</a:t>
            </a:r>
            <a:r>
              <a:rPr lang="es-MX" dirty="0"/>
              <a:t>. Editores unidos mexicanos. Ciudad de México. 2015</a:t>
            </a:r>
          </a:p>
          <a:p>
            <a:pPr marL="0" indent="0">
              <a:buNone/>
              <a:tabLst>
                <a:tab pos="1611313" algn="l"/>
              </a:tabLst>
            </a:pPr>
            <a:r>
              <a:rPr lang="es-MX" dirty="0"/>
              <a:t>[4] R. </a:t>
            </a:r>
            <a:r>
              <a:rPr lang="es-MX" dirty="0" err="1"/>
              <a:t>Gonzalez</a:t>
            </a:r>
            <a:r>
              <a:rPr lang="es-MX" dirty="0"/>
              <a:t> y A. B. León. </a:t>
            </a:r>
            <a:r>
              <a:rPr lang="es-MX" i="1" dirty="0"/>
              <a:t>Redacción composición y estilo</a:t>
            </a:r>
            <a:r>
              <a:rPr lang="es-MX" dirty="0"/>
              <a:t>. </a:t>
            </a:r>
            <a:r>
              <a:rPr lang="es-MX" dirty="0" err="1"/>
              <a:t>Limusa</a:t>
            </a:r>
            <a:r>
              <a:rPr lang="es-MX" dirty="0"/>
              <a:t>. Ciudad de México. 2012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Comunicación oral y escrita - Unidad 2 Comunicación escrita </a:t>
            </a:r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5345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1D61D291114439D9B1B26FF767116" ma:contentTypeVersion="6" ma:contentTypeDescription="Create a new document." ma:contentTypeScope="" ma:versionID="006b034a5485bb8f01487d1d6897b877">
  <xsd:schema xmlns:xsd="http://www.w3.org/2001/XMLSchema" xmlns:xs="http://www.w3.org/2001/XMLSchema" xmlns:p="http://schemas.microsoft.com/office/2006/metadata/properties" xmlns:ns2="eac82ae4-22aa-435f-b067-19103b4b5b05" targetNamespace="http://schemas.microsoft.com/office/2006/metadata/properties" ma:root="true" ma:fieldsID="c3597f4833f44239ae5c27e9aac183f0" ns2:_="">
    <xsd:import namespace="eac82ae4-22aa-435f-b067-19103b4b5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82ae4-22aa-435f-b067-19103b4b5b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27FED6-67F2-423D-A5A6-A4B70BB7A2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BB098D-5910-41A5-BA55-CEA315012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c82ae4-22aa-435f-b067-19103b4b5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418F1D-CC9D-46AE-8397-EC32143A7DF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Dividendo</Template>
  <TotalTime>408</TotalTime>
  <Words>617</Words>
  <Application>Microsoft Office PowerPoint</Application>
  <PresentationFormat>Panorámica</PresentationFormat>
  <Paragraphs>65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</vt:lpstr>
      <vt:lpstr>Gill Sans MT</vt:lpstr>
      <vt:lpstr>Wingdings</vt:lpstr>
      <vt:lpstr>Wingdings 2</vt:lpstr>
      <vt:lpstr>Dividendo</vt:lpstr>
      <vt:lpstr>Naturaleza social de la comunicación: la lengua </vt:lpstr>
      <vt:lpstr>Presentación de PowerPoint</vt:lpstr>
      <vt:lpstr>VICIOS DEL LENGUAJE</vt:lpstr>
      <vt:lpstr>Algunos vicios del lenguaje…</vt:lpstr>
      <vt:lpstr>barbarismo</vt:lpstr>
      <vt:lpstr>solecismo</vt:lpstr>
      <vt:lpstr>Cacofonia y queísmo</vt:lpstr>
      <vt:lpstr>Presentación de PowerPoint</vt:lpstr>
      <vt:lpstr>Presentación de PowerPoint</vt:lpstr>
      <vt:lpstr>Presentación de PowerPoint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 Normatividad de la lengua escrita</dc:title>
  <dc:creator>Sandra Mercedes Perez Vera</dc:creator>
  <cp:lastModifiedBy>Karol Gonzalez Ruiz</cp:lastModifiedBy>
  <cp:revision>18</cp:revision>
  <dcterms:created xsi:type="dcterms:W3CDTF">2020-11-19T03:42:37Z</dcterms:created>
  <dcterms:modified xsi:type="dcterms:W3CDTF">2026-02-25T05:33:12Z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0x010100C4D1D61D291114439D9B1B26FF767116</vt:lpwstr>
  </property>
</Properties>
</file>